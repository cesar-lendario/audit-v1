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CRESCIMENTO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457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280160" cy="54864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está o dinheiro parado — e como liberar.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914400" cy="5486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96313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comercial vende, mas a informação não chega em quem precisa: o CRM não é alimentado, o repasse para engenharia e administrativo é por WhatsApp, e isso já travou a entrega de um semirreboque basculante por 3 semanas por certificação vencida — R$ 280 mil de recebimento atrasado e R$ 15 mil de desconto de cortesia.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914400" cy="54864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96313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venda dispara automaticamente engenharia, homologação e administrativo no mesmo minuto — zero entrega travada por documento, 6 a 8 horas de gestão por semana de volta, e um time comercial livre para prospectar em vez de apagar incêndio.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DA OPORTUNIDADE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9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por semana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hoje somem em retrabalho, espera e apagar incêndio — e podem voltar pro caixa.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463040"/>
            <a:ext cx="0" cy="384048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PRINCIPAL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219456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comercial → engenharia → homologação sem falha humana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tempo e o dinheiro vazam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2140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1214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 sem repasse para engenharia/administrativo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Ficou quase 3 semanas parado. Atrasou o recebimento de uns 280 mil.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21040" y="2103120"/>
            <a:ext cx="30476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R$ 295 mil no pior caso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44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29443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 concentrada em uma engenheira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ela sai de férias, tudo que é fora do padrão trava.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1040" y="2926080"/>
            <a:ext cx="30476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dias/projeto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673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37673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apagando incêndio de comunicação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que eu devia estar usando pra pensar em crescimento.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21040" y="3749040"/>
            <a:ext cx="30476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h/semana do dono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22960" y="448056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902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45902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100% reativo, sem prospecção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737360" y="4983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liga ativamente pra prospectar transportadora nova.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21040" y="4572000"/>
            <a:ext cx="30476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R$ 8–10 mi/ano na mesa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22960" y="530352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1324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37360" y="541324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Pós-venda sem follow-up estruturado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737360" y="5806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é que tem que lembrar de procurar a gente.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5394960"/>
            <a:ext cx="304769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do faturamento, subaproveit…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61264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NADA MUDAR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não agir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731520" cy="54864"/>
          </a:xfrm>
          <a:prstGeom prst="rect">
            <a:avLst/>
          </a:prstGeom>
          <a:solidFill>
            <a:srgbClr val="FFB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meses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2757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2 casos/mês de retrabalho por informação que não chegou; recebimentos atrasados por homologação de última hora; engenharia em regime de urgência.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2018" y="2103120"/>
            <a:ext cx="0" cy="39319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0618" y="2103120"/>
            <a:ext cx="731520" cy="5486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4490618" y="22860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meses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0618" y="2880360"/>
            <a:ext cx="302757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cliente grande cancela de verdade por atraso. Faturamento continua preso na sazonalidade da safra porque ninguém prospecta fora do agro.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29677" y="2103120"/>
            <a:ext cx="0" cy="39319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8277" y="2103120"/>
            <a:ext cx="73152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8158277" y="22860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anos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158277" y="2880360"/>
            <a:ext cx="302757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fica dependente de indicação e de uma única pessoa para homologar. Crescimento limitado ao que bate na porta — R$ 8–10 milhões/ano deixados na mesa.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Esforço × Impacto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alto e mais à esquerda, antes deve ser feito.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103120"/>
            <a:ext cx="3931920" cy="1874520"/>
          </a:xfrm>
          <a:prstGeom prst="rect">
            <a:avLst/>
          </a:prstGeom>
          <a:solidFill>
            <a:srgbClr val="0E2418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2103120"/>
            <a:ext cx="3931920" cy="1874520"/>
          </a:xfrm>
          <a:prstGeom prst="rect">
            <a:avLst/>
          </a:prstGeom>
          <a:solidFill>
            <a:srgbClr val="0E1A2E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3977640"/>
            <a:ext cx="3931920" cy="1874520"/>
          </a:xfrm>
          <a:prstGeom prst="rect">
            <a:avLst/>
          </a:prstGeom>
          <a:solidFill>
            <a:srgbClr val="241F10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3977640"/>
            <a:ext cx="3931920" cy="1874520"/>
          </a:xfrm>
          <a:prstGeom prst="rect">
            <a:avLst/>
          </a:prstGeom>
          <a:solidFill>
            <a:srgbClr val="261212"/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3977640"/>
            <a:ext cx="7863840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103120"/>
            <a:ext cx="0" cy="374904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MAIORES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4087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4087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5925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ESFORÇO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5925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ESFORÇO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 rot="16200000">
            <a:off x="731520" y="29032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IMPACTO  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74820" y="2176272"/>
            <a:ext cx="420624" cy="420624"/>
          </a:xfrm>
          <a:prstGeom prst="ellipse">
            <a:avLst/>
          </a:prstGeom>
          <a:solidFill>
            <a:srgbClr val="3DDC8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4820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9048" y="2176272"/>
            <a:ext cx="420624" cy="420624"/>
          </a:xfrm>
          <a:prstGeom prst="ellipse">
            <a:avLst/>
          </a:prstGeom>
          <a:solidFill>
            <a:srgbClr val="3DDC8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176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48" y="2971800"/>
            <a:ext cx="420624" cy="420624"/>
          </a:xfrm>
          <a:prstGeom prst="ellipse">
            <a:avLst/>
          </a:prstGeom>
          <a:solidFill>
            <a:srgbClr val="4D8D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74820" y="3767328"/>
            <a:ext cx="420624" cy="420624"/>
          </a:xfrm>
          <a:prstGeom prst="ellipse">
            <a:avLst/>
          </a:prstGeom>
          <a:solidFill>
            <a:srgbClr val="3DDC8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4820" y="3767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74006" y="3767328"/>
            <a:ext cx="420624" cy="420624"/>
          </a:xfrm>
          <a:prstGeom prst="ellipse">
            <a:avLst/>
          </a:prstGeom>
          <a:solidFill>
            <a:srgbClr val="3DDC8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006" y="3767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23276" y="3767328"/>
            <a:ext cx="420624" cy="420624"/>
          </a:xfrm>
          <a:prstGeom prst="ellipse">
            <a:avLst/>
          </a:prstGeom>
          <a:solidFill>
            <a:srgbClr val="4D8D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3276" y="37673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50592" y="4562856"/>
            <a:ext cx="420624" cy="420624"/>
          </a:xfrm>
          <a:prstGeom prst="ellipse">
            <a:avLst/>
          </a:prstGeom>
          <a:solidFill>
            <a:srgbClr val="FFB545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4562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· 1 DE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ponto, e a ferramenta que resolve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12264"/>
            <a:ext cx="310896" cy="31089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12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207568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automático venda → engenharia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244144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n8n conectado ao CRM + WhatsApp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61872" y="277063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 de 3 semanas parado e R$ 280 mil atrasados; acontece em algum grau toda semana.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84168" y="2807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I5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2960" y="336804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14344"/>
            <a:ext cx="310896" cy="31089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14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1872" y="347776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Copiloto de homologação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84352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Claude + base das normas CONTRAN/​SENATRAN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61872" y="417271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concentrado em uma engenheira; 3–5 dias por projeto; 4–5 atrasos por mês.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4168" y="4209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I5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477012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16424"/>
            <a:ext cx="310896" cy="310896"/>
          </a:xfrm>
          <a:prstGeom prst="ellipse">
            <a:avLst/>
          </a:prstGeom>
          <a:solidFill>
            <a:srgbClr val="4D8D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16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1872" y="487984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 outbound ativa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61872" y="524560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Apollo.io + agente de qualificação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61872" y="557479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100% reativo; R$ 8–10 milhões/ano estimados que não chegam por falta de prospecção.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84168" y="56113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MAIOR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I4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370168" y="196596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0168" y="2112264"/>
            <a:ext cx="310896" cy="31089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9" name="Text 27"/>
          <p:cNvSpPr/>
          <p:nvPr/>
        </p:nvSpPr>
        <p:spPr>
          <a:xfrm>
            <a:off x="6370168" y="2112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9080" y="207568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automático de pós-venda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09080" y="244144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HubSpot Workflows + cadastro de frota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09080" y="277063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cadastro único de veículos vendidos; peças e oficina têm margem melhor e crescem zero.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31375" y="2807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I3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70168" y="336804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0168" y="3514344"/>
            <a:ext cx="310896" cy="310896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36" name="Text 34"/>
          <p:cNvSpPr/>
          <p:nvPr/>
        </p:nvSpPr>
        <p:spPr>
          <a:xfrm>
            <a:off x="6370168" y="35143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09080" y="347776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prazos e atrasos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09080" y="384352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Power BI ligado ao CRM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09080" y="417271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é no feeling; relatórios do CRM saem incompletos e ninguém confia.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31375" y="420928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I3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70168" y="477012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70168" y="4916424"/>
            <a:ext cx="310896" cy="310896"/>
          </a:xfrm>
          <a:prstGeom prst="ellipse">
            <a:avLst/>
          </a:prstGeom>
          <a:solidFill>
            <a:srgbClr val="4D8D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70168" y="4916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09080" y="487984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real de customização no orçamento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09080" y="524560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Calculadora com histórico de engenharia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809080" y="557479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customizados saem com margem apertada porque o extra de homologação é subestimado.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631375" y="561136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MAIOR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· I3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· 2 DE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ponto, e a ferramenta que resolve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4998568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12264"/>
            <a:ext cx="310896" cy="310896"/>
          </a:xfrm>
          <a:prstGeom prst="ellipse">
            <a:avLst/>
          </a:prstGeom>
          <a:solidFill>
            <a:srgbClr val="FFB54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12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2075688"/>
            <a:ext cx="4559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obrigatórios no CRM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2441448"/>
            <a:ext cx="45596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Regras de validação no próprio CRM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61872" y="2770632"/>
            <a:ext cx="2730856" cy="48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não preenche; sem campo obrigatório nenhum relatório fecha.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84168" y="28072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PREENCHIMENTO</a:t>
            </a:r>
            <a:endParaRPr lang="en-US" sz="7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750" b="1" spc="100" kern="0" dirty="0">
                <a:solidFill>
                  <a:srgbClr val="FFB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I2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Comece por aqui.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 &amp; Documentation Copilot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 de R$ 280 mil travados; ponto único de falha na engenharia.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0" y="1737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822960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 · SCORE DE PRIORIDADE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480060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983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Comercial / Prospecting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reativo, R$ 8–10 mi/ano estimados na mesa.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92640" y="5029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7 frentes, ranqueadas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 &amp; Documentation Copilot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2029968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2029968"/>
            <a:ext cx="4659782" cy="91440"/>
          </a:xfrm>
          <a:prstGeom prst="rect">
            <a:avLst/>
          </a:prstGeom>
          <a:solidFill>
            <a:srgbClr val="2BD9C9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0" y="187452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8562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" y="230428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Comercial / Prospecting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459736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459736"/>
            <a:ext cx="3994099" cy="91440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0" y="230428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SECUNDÁRIA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2960" y="2734056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Knowledge Copilot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889504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2889504"/>
            <a:ext cx="3277210" cy="91440"/>
          </a:xfrm>
          <a:prstGeom prst="rect">
            <a:avLst/>
          </a:prstGeom>
          <a:solidFill>
            <a:srgbClr val="4D8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0" y="2734056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3163824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Lifecycle / Retrofit Agent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319272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3319272"/>
            <a:ext cx="2969971" cy="91440"/>
          </a:xfrm>
          <a:prstGeom prst="rect">
            <a:avLst/>
          </a:prstGeom>
          <a:solidFill>
            <a:srgbClr val="4D8D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0" y="3163824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593592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&amp; Proposal Agent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3749040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3749040"/>
            <a:ext cx="2662733" cy="91440"/>
          </a:xfrm>
          <a:prstGeom prst="rect">
            <a:avLst/>
          </a:prstGeom>
          <a:solidFill>
            <a:srgbClr val="4D8D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241280" y="3593592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4023360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&amp; Pricing Intelligence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4178808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4178808"/>
            <a:ext cx="2406701" cy="91440"/>
          </a:xfrm>
          <a:prstGeom prst="rect">
            <a:avLst/>
          </a:prstGeom>
          <a:solidFill>
            <a:srgbClr val="FFB545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0" y="4023360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" y="445312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AI / Production OS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4608576"/>
            <a:ext cx="5120640" cy="91440"/>
          </a:xfrm>
          <a:prstGeom prst="rect">
            <a:avLst/>
          </a:prstGeom>
          <a:solidFill>
            <a:srgbClr val="2A2C33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760" y="4608576"/>
            <a:ext cx="1433779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4453128"/>
            <a:ext cx="1097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" y="5202936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340096"/>
            <a:ext cx="245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GERAL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" y="5586984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84/100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459404" y="5340096"/>
            <a:ext cx="245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EM IA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59404" y="5586984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Ocasionalmente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095848" y="5340096"/>
            <a:ext cx="245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CONSIDERADO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95848" y="5586984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R$ 4–8 mil/mês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732291" y="5340096"/>
            <a:ext cx="24535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732291" y="5586984"/>
            <a:ext cx="24535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PROMESSA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26561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entrega da Rodovale volta a travar por documento: cada venda aciona engenharia e homologação automaticamente, em 90 dias, com retrabalho caindo de 4–5 para no máximo 1 caso por mês.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0" y="5394960"/>
            <a:ext cx="1097280" cy="0"/>
          </a:xfrm>
          <a:prstGeom prst="line">
            <a:avLst/>
          </a:prstGeom>
          <a:noFill/>
          <a:ln w="9525">
            <a:solidFill>
              <a:srgbClr val="B98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5532120"/>
            <a:ext cx="9265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Flow — Venda que aciona a fábrica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Flow — Venda que aciona a fábrica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91741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fluxo único ligando CRM, engenharia e administrativo. Quando o vendedor marca uma venda, o sistema cria a ordem, checa se o modelo está com certificação vigente, avisa a engenheira responsável e abre a lista de documentos de homologação. Um copiloto treinado nas normas CONTRAN 916/2022 e Portaria SENATRAN 990/2022 monta a primeira versão do memorial, e um painel mostra em tempo real o que está travado e por quê.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MUDA, EM NÚMEROS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914400" cy="54864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9631375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4–5 casos de retrabalho por mês para no máximo 1 em 60–90 dias. Zero entregas travadas por certificação vencida. 6–8 horas semanais do dono de volta para crescimento.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dias. Cinco entregas.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9424"/>
            <a:ext cx="164592" cy="16459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18531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85312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os 6 campos que toda venda precisa ter no CRM.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18531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4599432"/>
            <a:ext cx="185312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+ campos obrigatórios no CRM atual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96123" y="2249424"/>
            <a:ext cx="164592" cy="16459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2996123" y="1828800"/>
            <a:ext cx="18531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96123" y="2651760"/>
            <a:ext cx="185312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Ligar o CRM à engenharia: venda marcada = aviso automático.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6123" y="4343400"/>
            <a:ext cx="18531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96123" y="4599432"/>
            <a:ext cx="185312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+ WhatsApp Business API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9286" y="2249424"/>
            <a:ext cx="164592" cy="16459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8" name="Text 16"/>
          <p:cNvSpPr/>
          <p:nvPr/>
        </p:nvSpPr>
        <p:spPr>
          <a:xfrm>
            <a:off x="5169286" y="1828800"/>
            <a:ext cx="18531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9286" y="2651760"/>
            <a:ext cx="185312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Levantar todos os modelos e datas de vencimento de certificação.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9286" y="4343400"/>
            <a:ext cx="18531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9286" y="4599432"/>
            <a:ext cx="185312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vigência com alerta de 60 dias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42449" y="2249424"/>
            <a:ext cx="164592" cy="16459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/>
          <p:nvPr/>
        </p:nvSpPr>
        <p:spPr>
          <a:xfrm>
            <a:off x="7342449" y="1828800"/>
            <a:ext cx="18531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42449" y="2651760"/>
            <a:ext cx="185312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copiloto de homologação num projeto real da semana.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42449" y="4343400"/>
            <a:ext cx="18531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42449" y="4599432"/>
            <a:ext cx="185312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com base das normas CONTRAN/​SENATRAN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15612" y="2249424"/>
            <a:ext cx="164592" cy="164592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8" name="Text 26"/>
          <p:cNvSpPr/>
          <p:nvPr/>
        </p:nvSpPr>
        <p:spPr>
          <a:xfrm>
            <a:off x="9515612" y="1828800"/>
            <a:ext cx="18531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15612" y="2651760"/>
            <a:ext cx="1853123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o painel de atrasos e definir a métrica de 90 dias.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15612" y="4343400"/>
            <a:ext cx="18531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515612" y="4599432"/>
            <a:ext cx="185312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ou Looker Studio ligado ao CRM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depois da primeira semana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148840"/>
            <a:ext cx="96313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 outbound com agente de qualificação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2578608"/>
            <a:ext cx="91741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transportadoras, frigoríficos e biomassa fora do agro; primeiro contato automatizado, vendedor entra no lead quente.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37360" y="3520440"/>
            <a:ext cx="96313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frota e follow-up de pós-venda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1741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implemento vendido vira um registro com data, modelo e cliente; manutenção e peças oferecidas na hora certa.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92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4892040"/>
            <a:ext cx="963137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real de customização no orçamento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5321808"/>
            <a:ext cx="91741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horas de engenharia por tipo de customização alimentando a tabela de preço.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61264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FINANCEIRO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54577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R$ 26.178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8716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retorno líquido por mês, já descontando o custo das ferramentas.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RECUPERADAS / SEMANA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2706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h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76524" y="4434840"/>
            <a:ext cx="0" cy="11887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9404" y="443484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RECUPERADO / MÊS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59404" y="4892040"/>
            <a:ext cx="22706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R$ 28.578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912968" y="4434840"/>
            <a:ext cx="0" cy="11887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5848" y="443484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DAS FERRAMENTAS / MÊS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95848" y="4892040"/>
            <a:ext cx="22706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R$ 2.400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549411" y="4434840"/>
            <a:ext cx="0" cy="11887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291" y="4434840"/>
            <a:ext cx="22706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/ HORA USADO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732291" y="4892040"/>
            <a:ext cx="22706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R$ 300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OFERTA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formas de fazer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opera, com suporte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275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recebe o desenho do fluxo, os templates do CRM e o copiloto configurado. Sua equipe implementa com 2 chamadas de suporte por semana.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731520" cy="0"/>
          </a:xfrm>
          <a:prstGeom prst="line">
            <a:avLst/>
          </a:prstGeom>
          <a:noFill/>
          <a:ln w="9525">
            <a:solidFill>
              <a:srgbClr val="B98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86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9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62018" y="2103120"/>
            <a:ext cx="0" cy="39319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0618" y="21031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DWY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90618" y="28346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Fazemos junto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0618" y="3337560"/>
            <a:ext cx="30275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Implementamos o fluxo junto com o seu time em 5 dias, treinamos vendedores e engenharia, e acompanhamos por 90 dias até a métrica bater.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90618" y="5349240"/>
            <a:ext cx="731520" cy="0"/>
          </a:xfrm>
          <a:prstGeom prst="line">
            <a:avLst/>
          </a:prstGeom>
          <a:noFill/>
          <a:ln w="9525">
            <a:solidFill>
              <a:srgbClr val="4D8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0618" y="5486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 mil/mês + setup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29677" y="2103120"/>
            <a:ext cx="0" cy="393192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03120"/>
            <a:ext cx="32104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DFY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158277" y="2834640"/>
            <a:ext cx="32104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 assumimos tudo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58277" y="3337560"/>
            <a:ext cx="302757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Assumimos implementação, operação e evolução contínua: fluxo, copiloto, painel e prospecção. Você só acompanha o resultado.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8277" y="5349240"/>
            <a:ext cx="731520" cy="0"/>
          </a:xfrm>
          <a:prstGeom prst="line">
            <a:avLst/>
          </a:prstGeom>
          <a:noFill/>
          <a:ln w="9525">
            <a:solidFill>
              <a:srgbClr val="2BD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5486400"/>
            <a:ext cx="321045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OFERTA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condicional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7568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31920" y="205740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por falha de comunicação cai de 4–5 para no máximo 1 caso por mês; zero entrega travada por certificação vencida.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66700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7672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AVALIAÇÃO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0" y="275844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dias a partir do Dia 1, com checagem aos 30 e 60 dias.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6804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7776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PRÉ-REQUISITOS DO CLIENTE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0" y="345948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 registram toda venda no CRM em até 24h; engenharia responde ao aviso automático em até 1 dia útil; acesso ao CRM e à lista de modelos homologados.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06908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7880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OBJETIVA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0" y="416052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Contagem mensal de ordens com retrabalho por informação ausente, registrada no painel, comparada com a média de 4–5 dos últimos 3 meses.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77012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7984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ELEGIBILIDADE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486156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de 15 vendas/mês passando pelo fluxo; equipe comercial com os 8 vendedores usando o CRM.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547116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580888"/>
            <a:ext cx="2926080" cy="518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spc="200" kern="0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ESCOPO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0" y="5562600"/>
            <a:ext cx="7436815" cy="536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cobre atrasos causados por órgão homologador, fornecedor de chassi ou mudança de norma; não garante volume de vendas novas.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6172200"/>
            <a:ext cx="10545775" cy="0"/>
          </a:xfrm>
          <a:prstGeom prst="line">
            <a:avLst/>
          </a:prstGeom>
          <a:noFill/>
          <a:ln w="9525">
            <a:solidFill>
              <a:srgbClr val="2A2C33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713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22960" y="54864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45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começar pelo Dia 1.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1280160" cy="54864"/>
          </a:xfrm>
          <a:prstGeom prst="rect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00400"/>
            <a:ext cx="8716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os 6 campos que toda venda precisa ter no CRM.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8716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+ campos obrigatórios no CRM atual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Rodovale Implementos Rodoviários  ·  15/09/2026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2026-09-15T16:21:50Z</dcterms:created>
  <dcterms:modified xsi:type="dcterms:W3CDTF">2026-09-15T16:21:50Z</dcterms:modified>
</cp:coreProperties>
</file>